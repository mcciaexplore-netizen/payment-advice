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7c5be8e9fa4bf7" /><Relationship Type="http://schemas.openxmlformats.org/officeDocument/2006/relationships/extended-properties" Target="/docProps/app.xml" Id="R635671dd117047c2" /><Relationship Type="http://schemas.openxmlformats.org/officeDocument/2006/relationships/officeDocument" Target="/ppt/presentation.xml" Id="R0036d6eb941d44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89c2be6c614bb4"/>
  </p:sldMasterIdLst>
  <p:notesMasterIdLst>
    <p:notesMasterId xmlns:r="http://schemas.openxmlformats.org/officeDocument/2006/relationships" r:id="Rb661bd2a076e48ef"/>
  </p:notesMasterIdLst>
  <p:sldIdLst>
    <p:sldId xmlns:r="http://schemas.openxmlformats.org/officeDocument/2006/relationships" id="256" r:id="R0771d561ce7647b4"/>
    <p:sldId xmlns:r="http://schemas.openxmlformats.org/officeDocument/2006/relationships" id="257" r:id="R202ee2c98b724517"/>
    <p:sldId xmlns:r="http://schemas.openxmlformats.org/officeDocument/2006/relationships" id="258" r:id="R48c35f0a85164b16"/>
    <p:sldId xmlns:r="http://schemas.openxmlformats.org/officeDocument/2006/relationships" id="259" r:id="Rbca890911300429a"/>
    <p:sldId xmlns:r="http://schemas.openxmlformats.org/officeDocument/2006/relationships" id="260" r:id="R65e619c081cd4911"/>
    <p:sldId xmlns:r="http://schemas.openxmlformats.org/officeDocument/2006/relationships" id="261" r:id="R71d847019c144a49"/>
    <p:sldId xmlns:r="http://schemas.openxmlformats.org/officeDocument/2006/relationships" id="262" r:id="R29db904ed99a49f4"/>
    <p:sldId xmlns:r="http://schemas.openxmlformats.org/officeDocument/2006/relationships" id="263" r:id="R84ca2c2ccc9f4915"/>
    <p:sldId xmlns:r="http://schemas.openxmlformats.org/officeDocument/2006/relationships" id="264" r:id="Rc724e37f4f4847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fd5940c5974a72" /><Relationship Type="http://schemas.openxmlformats.org/officeDocument/2006/relationships/slideMaster" Target="/ppt/slideMasters/slideMaster1.xml" Id="R3389c2be6c614bb4" /><Relationship Type="http://schemas.openxmlformats.org/officeDocument/2006/relationships/notesMaster" Target="/ppt/notesMasters/notesMaster1.xml" Id="Rb661bd2a076e48ef" /><Relationship Type="http://schemas.openxmlformats.org/officeDocument/2006/relationships/presProps" Target="/ppt/presProps.xml" Id="R4ac948a42a1a4d94" /><Relationship Type="http://schemas.openxmlformats.org/officeDocument/2006/relationships/tableStyles" Target="/ppt/tableStyles.xml" Id="R79c249f0ca0c4e40" /><Relationship Type="http://schemas.openxmlformats.org/officeDocument/2006/relationships/slide" Target="/ppt/slides/slide1.xml" Id="R0771d561ce7647b4" /><Relationship Type="http://schemas.openxmlformats.org/officeDocument/2006/relationships/slide" Target="/ppt/slides/slide2.xml" Id="R202ee2c98b724517" /><Relationship Type="http://schemas.openxmlformats.org/officeDocument/2006/relationships/slide" Target="/ppt/slides/slide3.xml" Id="R48c35f0a85164b16" /><Relationship Type="http://schemas.openxmlformats.org/officeDocument/2006/relationships/slide" Target="/ppt/slides/slide4.xml" Id="Rbca890911300429a" /><Relationship Type="http://schemas.openxmlformats.org/officeDocument/2006/relationships/slide" Target="/ppt/slides/slide5.xml" Id="R65e619c081cd4911" /><Relationship Type="http://schemas.openxmlformats.org/officeDocument/2006/relationships/slide" Target="/ppt/slides/slide6.xml" Id="R71d847019c144a49" /><Relationship Type="http://schemas.openxmlformats.org/officeDocument/2006/relationships/slide" Target="/ppt/slides/slide7.xml" Id="R29db904ed99a49f4" /><Relationship Type="http://schemas.openxmlformats.org/officeDocument/2006/relationships/slide" Target="/ppt/slides/slide8.xml" Id="R84ca2c2ccc9f4915" /><Relationship Type="http://schemas.openxmlformats.org/officeDocument/2006/relationships/slide" Target="/ppt/slides/slide9.xml" Id="Rc724e37f4f4847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d638cd60f440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c3d3edf5d343f0" /><Relationship Type="http://schemas.openxmlformats.org/officeDocument/2006/relationships/notesMaster" Target="/ppt/notesMasters/notesMaster1.xml" Id="R7cd3fdd7d85f4c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3f1f9dc05f4829" /><Relationship Type="http://schemas.openxmlformats.org/officeDocument/2006/relationships/notesMaster" Target="/ppt/notesMasters/notesMaster1.xml" Id="R9d0cd0b5b23944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394727b7324540" /><Relationship Type="http://schemas.openxmlformats.org/officeDocument/2006/relationships/notesMaster" Target="/ppt/notesMasters/notesMaster1.xml" Id="Rf3cd00ccc2e441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9f5bad681e48e8" /><Relationship Type="http://schemas.openxmlformats.org/officeDocument/2006/relationships/notesMaster" Target="/ppt/notesMasters/notesMaster1.xml" Id="R7d338b880b934d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49efcaefd14b37" /><Relationship Type="http://schemas.openxmlformats.org/officeDocument/2006/relationships/notesMaster" Target="/ppt/notesMasters/notesMaster1.xml" Id="R9ac0bdfac26c42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8e3deb57b0413e" /><Relationship Type="http://schemas.openxmlformats.org/officeDocument/2006/relationships/notesMaster" Target="/ppt/notesMasters/notesMaster1.xml" Id="Rb65f240cd7c844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3e279050bc4f45" /><Relationship Type="http://schemas.openxmlformats.org/officeDocument/2006/relationships/notesMaster" Target="/ppt/notesMasters/notesMaster1.xml" Id="Ra35de88dd0ce4a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938f8e59654e7e" /><Relationship Type="http://schemas.openxmlformats.org/officeDocument/2006/relationships/notesMaster" Target="/ppt/notesMasters/notesMaster1.xml" Id="R9203aff3678142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392bbbc0c34353" /><Relationship Type="http://schemas.openxmlformats.org/officeDocument/2006/relationships/notesMaster" Target="/ppt/notesMasters/notesMaster1.xml" Id="R5c81a0abd5904e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morning. Today I will introduce MCCIA Payment Desk, explain why we built it, and demonstrate how each staff member can use it. The presentation takes about ten minutes, followed by a live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old pain points briefly. The application does not replace financial controls. It makes the existing process easier to follow and harder to lose.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staff first choose the correct request type. Highlight that the underlying controls are common: complete data, supporting documents, reference number, email and tracking.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left to right. Stress that the Authority recommends; Finance completes the financial review. A sent-back request does not disappear. The submitter receives a secure correction link.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During the live demo, use a prepared example. Do not submit production test data unless you intend to keep it. Point out Required versus Optional labels and show the attachment size counter.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normal staff do not need a login to submit. Login access is for Finance and Recommending Authorities. Some users may have both roles through one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your demo checklist. Keep the demo moving. Show one complete path rather than exploring every field. Mention Cash Voucher and Advance Payment after the main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these as operating rules, not defects. The most important habits are using the official email, choosing the correct authority, checking data, and keeping files under 10 MB each.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practical feedback after staff use the application. Avoid promising a future feature or date. Ask staff to report issues with the reference number and a screenshot when possible.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91ba905b14b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3021050b3f471b" /><Relationship Type="http://schemas.openxmlformats.org/officeDocument/2006/relationships/slideLayout" Target="/ppt/slideLayouts/slideLayout1.xml" Id="R01f02be05e5b4b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f02be05e5b4b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6ba32440e4168" /><Relationship Type="http://schemas.openxmlformats.org/officeDocument/2006/relationships/image" Target="/ppt/media/image.png" Id="R42a74694d6fc49f9" /><Relationship Type="http://schemas.openxmlformats.org/officeDocument/2006/relationships/notesSlide" Target="/ppt/notesSlides/notesSlide1.xml" Id="R57a5b7eb861641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ae59d35c84117" /><Relationship Type="http://schemas.openxmlformats.org/officeDocument/2006/relationships/notesSlide" Target="/ppt/notesSlides/notesSlide2.xml" Id="Re36003ca7b1649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37346297440ec" /><Relationship Type="http://schemas.openxmlformats.org/officeDocument/2006/relationships/notesSlide" Target="/ppt/notesSlides/notesSlide3.xml" Id="Rae619844c78f45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6eaea11bd4346" /><Relationship Type="http://schemas.openxmlformats.org/officeDocument/2006/relationships/notesSlide" Target="/ppt/notesSlides/notesSlide4.xml" Id="R0288f377141d4e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1d00087c74bf3" /><Relationship Type="http://schemas.openxmlformats.org/officeDocument/2006/relationships/notesSlide" Target="/ppt/notesSlides/notesSlide5.xml" Id="R275c593edeec49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683b8ce184379" /><Relationship Type="http://schemas.openxmlformats.org/officeDocument/2006/relationships/notesSlide" Target="/ppt/notesSlides/notesSlide6.xml" Id="R635b3cecc9dc4c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382e8099f4839" /><Relationship Type="http://schemas.openxmlformats.org/officeDocument/2006/relationships/notesSlide" Target="/ppt/notesSlides/notesSlide7.xml" Id="R7489bac163af4c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348bd5b1c4994" /><Relationship Type="http://schemas.openxmlformats.org/officeDocument/2006/relationships/notesSlide" Target="/ppt/notesSlides/notesSlide8.xml" Id="Ra3b8728c8c434e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02b5127134606" /><Relationship Type="http://schemas.openxmlformats.org/officeDocument/2006/relationships/notesSlide" Target="/ppt/notesSlides/notesSlide9.xml" Id="R17f62e45645e42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74694d6fc49f9"/>
          <a:stretch xmlns:a="http://schemas.openxmlformats.org/drawingml/2006/main"/>
        </p:blipFill>
        <p:spPr>
          <a:xfrm xmlns:a="http://schemas.openxmlformats.org/drawingml/2006/main">
            <a:off x="723900" y="713409"/>
            <a:ext cx="2571750" cy="61153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5CDE3-C629-4E92-B3EE-057C1440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Payment Desk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70FB3-9644-43CC-83F1-105DE9B7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CE6F3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DCE6F3"/>
                </a:solidFill>
                <a:latin typeface="Avenir Next"/>
                <a:ea typeface="Avenir Next"/>
                <a:cs typeface="Avenir Next"/>
              </a:rPr>
              <a:t>A simpler, traceable way to request and process payments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DC073-549F-4A86-A523-B5C0448E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67A5D-C800-4F9F-A125-53A386E7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Staff presentation &amp; live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87D39-40E8-449F-8204-571E401C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D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FC3DA"/>
                </a:solidFill>
                <a:latin typeface="Avenir Next"/>
                <a:ea typeface="Avenir Next"/>
                <a:cs typeface="Avenir Next"/>
              </a:rPr>
              <a:t>Finance &amp; Accounts Department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A6957-A490-4304-8680-F669E19A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571750" cy="2571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A6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F1EBD-FADB-488F-B779-A21C97F9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DDB2E-8FFB-4FB3-8A8A-A8433485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Submit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AEC7A-D520-4DB0-8080-5BD9019E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Track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D2B93-F9D4-4CA1-8A0F-949AF76F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Complete</a:t>
            </a:r>
          </a:p>
        </p:txBody>
      </p:sp>
    </p:spTree>
    <p:extLst>
      <p:ext uri="{BB962C8B-B14F-4D97-AF65-F5344CB8AC3E}">
        <p14:creationId xmlns:p14="http://schemas.microsoft.com/office/powerpoint/2010/main" val="11067807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0C7D1-F4BA-48FD-939B-C1E9D20D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Why this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05EBB-FB67-4DE9-9CD7-23D942EA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72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8B560-4A81-46C1-81F9-DE8B43A4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18955-E86E-46E4-A900-7AA1DBD5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Payment requests previously depended on scattered documents, follow-ups and manual status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DCE79-91AF-4AB8-983B-1EF1DCB6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solidFill>
              <a:srgbClr val="E8A33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DCBCA-F72D-423D-B428-5799DCF4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Repeated follow-up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F6760-C5CC-4C36-8AF7-9121B440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Submitters had limited visibility after handing over a request.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8CBE0-7892-4B23-AB01-89F9499C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261E"/>
          </a:solidFill>
          <a:ln xmlns:a="http://schemas.openxmlformats.org/drawingml/2006/main" w="0">
            <a:solidFill>
              <a:srgbClr val="B3261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D2D52-FCD8-47E2-88D4-5C866B37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Incomplete information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DF51D-383C-46B7-B380-AD37D900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480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Missing fields or documents slowed review and correction.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7DC58-860B-4116-8876-09A6606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CB7"/>
          </a:solidFill>
          <a:ln xmlns:a="http://schemas.openxmlformats.org/drawingml/2006/main" w="0">
            <a:solidFill>
              <a:srgbClr val="006CB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304ED-F47B-49EE-8B08-1799656D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No single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44C41-B094-4EA5-ADEA-67AC7422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Finance and authorities needed one reliable view of pending work.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FA94D-DE15-45C7-8A94-9C3DADDF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B7DFC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44DCA-BBED-4A75-8413-FEEB3A1B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72150"/>
            <a:ext cx="1032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5C3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E5C39"/>
                </a:solidFill>
                <a:latin typeface="Avenir Next"/>
                <a:ea typeface="Avenir Next"/>
                <a:cs typeface="Avenir Next"/>
              </a:rPr>
              <a:t>Payment Desk gives every request a reference number, an approval path and a visible status.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450FB-273C-4B46-A7CD-1643B3F0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MCCIA Finance &amp; Accounts</a:t>
            </a:r>
          </a:p>
        </p:txBody>
      </p:sp>
    </p:spTree>
    <p:extLst>
      <p:ext uri="{BB962C8B-B14F-4D97-AF65-F5344CB8AC3E}">
        <p14:creationId xmlns:p14="http://schemas.microsoft.com/office/powerpoint/2010/main" val="17381521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822A71-A98F-4D5B-B5F4-BDE608E1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What changes for staff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A77CC-F14D-4597-A463-6856EA48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72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CB725-A1EB-43E3-B361-D3E48DE6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918E0-0815-4114-BDC4-77CD1A99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6CB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A714B-0EFC-4700-B369-63066C72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Payment Advice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98759-ECA5-456A-9663-F8AC3C2D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CB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6CB7"/>
                </a:solidFill>
                <a:latin typeface="Avenir Next"/>
                <a:ea typeface="Avenir Next"/>
                <a:cs typeface="Avenir Next"/>
              </a:rPr>
              <a:t>NEFT payments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E0033-2B76-4019-9480-49721ABA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Vendor, invoice, GST and bank details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532CC-8BA1-43B4-BF8E-1839A6CF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192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E8A33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98B84-6111-4A0C-825E-599FE29A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859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Cash Voucher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375B7-6109-4B0D-801F-A4D68A59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A33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8A33D"/>
                </a:solidFill>
                <a:latin typeface="Avenir Next"/>
                <a:ea typeface="Avenir Next"/>
                <a:cs typeface="Avenir Next"/>
              </a:rPr>
              <a:t>Cash reimbursements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29530-D83D-41D7-BB39-A3952849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Simple particulars with an automatic total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9556B-AE3F-4266-808B-8B967A06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192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6D5B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F624C-4EA4-4E33-9EA3-62AD5007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859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Advance Payment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65033-F769-4122-B03E-5802B8A8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5BD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D5BD0"/>
                </a:solidFill>
                <a:latin typeface="Avenir Next"/>
                <a:ea typeface="Avenir Next"/>
                <a:cs typeface="Avenir Next"/>
              </a:rPr>
              <a:t>Money needed before spending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2E098-0DA3-449B-9028-666B7D61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384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Purpose, line items and advance tracking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943613-6EC0-4F9F-B7A9-5DB47196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8A62F-61C8-413B-AAED-D596239C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Shared improvements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9FB56-3678-44FC-B3F5-39E5DA0B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0">
            <a:solidFill>
              <a:srgbClr val="00A65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AA6A6-DB7D-4CFF-80DB-21302FEF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Direct document upload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AE6D72-AC1F-4C38-9D93-C91059AD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00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CB7"/>
          </a:solidFill>
          <a:ln xmlns:a="http://schemas.openxmlformats.org/drawingml/2006/main" w="0">
            <a:solidFill>
              <a:srgbClr val="006CB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32F4F-5A94-435D-8FE3-97AE8950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05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Automatic reference numbers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EB821E-26E8-45FE-908B-85F3D2AF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00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solidFill>
              <a:srgbClr val="E8A33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68FA57-4656-4B22-A8ED-C0F84122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05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Email notifications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C4FF51-AA4A-4595-AB78-0CAAED8F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0">
            <a:solidFill>
              <a:srgbClr val="00A65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3B30BE-60E2-46C7-B2E8-9ED7ECA4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959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Status tracking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895E42-E9D7-483B-80BF-946A90DB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91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CB7"/>
          </a:solidFill>
          <a:ln xmlns:a="http://schemas.openxmlformats.org/drawingml/2006/main" w="0">
            <a:solidFill>
              <a:srgbClr val="006CB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31CC21-9D07-4CC7-84B4-BB19ADC8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959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Send-back and correction link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9B8B76-F2BC-4038-82AB-5C5CAEA9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91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solidFill>
              <a:srgbClr val="E8A33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C2413B-71E8-405A-ACF2-8A435091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4959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Downloadable PDF record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B8F005-B2CD-4B3A-9336-5042EB79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MCCIA Finance &amp; Accounts</a:t>
            </a:r>
          </a:p>
        </p:txBody>
      </p:sp>
    </p:spTree>
    <p:extLst>
      <p:ext uri="{BB962C8B-B14F-4D97-AF65-F5344CB8AC3E}">
        <p14:creationId xmlns:p14="http://schemas.microsoft.com/office/powerpoint/2010/main" val="4372837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2A9BED-F7E6-47ED-850C-FC8A8655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Updated payment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96FCD-FAC8-4E3B-85C8-47F94E2C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72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8B124-B3E0-415C-954E-A6DBF3F0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0ED26-55BB-4142-9E90-5732375A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09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CB7"/>
          </a:solidFill>
          <a:ln xmlns:a="http://schemas.openxmlformats.org/drawingml/2006/main" w="0">
            <a:solidFill>
              <a:srgbClr val="006CB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C9FA4-7054-465B-A4E9-C4C00EDD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76425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7558D-D261-47FD-BC41-CECE5F20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Submitter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B60A0-5F2D-41A3-9624-11F8AE4D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Completes form</a:t>
            </a:r>
          </a:p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and uploads 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97ED4-7F74-46F6-9031-A69C6849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14550"/>
            <a:ext cx="121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54802-5599-43E9-99F3-209AE49B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9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solidFill>
              <a:srgbClr val="E8A33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9B98D-6262-43FB-8E80-9E8E567F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76425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9D02C-794A-414B-9DDB-F41AE358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Authority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1BC0D-9A30-4A46-B93E-A96C7ACD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Reviews and</a:t>
            </a:r>
          </a:p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recommends or sends 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30368-CBF5-4951-9C16-2DD30AB1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14550"/>
            <a:ext cx="121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23D89-1993-4E60-876E-3C138822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09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0F8B8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7CFA0-3A6C-4355-AA15-7AFEADC6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76425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36CE2-98F3-4A60-B559-D4A54DA1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Finance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479AF-EB27-4691-A4FD-60B7E0C8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Receives, checks</a:t>
            </a:r>
          </a:p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and verifies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89E145-A294-4B57-AF86-505409C2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121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E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AF191-8CF2-437E-9051-8EC24C2C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809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0">
            <a:solidFill>
              <a:srgbClr val="00A65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17673A-95C5-4E2D-8E4D-9F2BA19B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876425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10B199-34E7-4C88-B20E-F4E90603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Payment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C521B-8608-4C09-B956-72AEA477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Records settlement</a:t>
            </a:r>
          </a:p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and closes the request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9132C-B420-46D5-8E8F-CEAF7AE9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971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AD58D4-7AB5-41E3-9E44-B1C5651F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3261E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B3261E"/>
                </a:solidFill>
                <a:latin typeface="Avenir Next"/>
                <a:ea typeface="Avenir Next"/>
                <a:cs typeface="Avenir Next"/>
              </a:rPr>
              <a:t>If corrections are needed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8B00B-C5A2-4458-9219-F1B10731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2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The submitter receives a secure edit link valid for 14 days. Resubmission returns to the Authority stage.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7AC916-D505-40B9-85A1-DE10BCE8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MCCIA Finance &amp; Accounts</a:t>
            </a:r>
          </a:p>
        </p:txBody>
      </p:sp>
    </p:spTree>
    <p:extLst>
      <p:ext uri="{BB962C8B-B14F-4D97-AF65-F5344CB8AC3E}">
        <p14:creationId xmlns:p14="http://schemas.microsoft.com/office/powerpoint/2010/main" val="487601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4A1867-96A6-43C5-B093-BAD84F09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How staff submit a 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6766E-80CF-4EE6-AAA2-0616B791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72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DB534-262E-4E73-9333-BF182BAA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19AC5-3912-43E8-BB01-531B9DE6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CB7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06CB7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3F96F-9172-41DB-870B-3F713D05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390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Open Payment Desk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66B8D-C874-488F-92AF-A6EEC2F8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90700"/>
            <a:ext cx="4238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Choose Payment Advice, Cash Voucher or Advance Payment.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999DB-77B4-47E9-A64F-BBDD97A0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F905D-8ADC-4CB1-8293-D65BBC8B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906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65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0A651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0010F-F21E-4A81-82F5-710E180F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390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Enter submitter 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0067B-8481-46E4-88D3-07A180E5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90700"/>
            <a:ext cx="4238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Use your official MCCIA email and select the correct recommending authority.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756EA-B6DE-4409-AFB2-3411BF1E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4CD83-2E59-408E-87E3-3B5A3827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CB7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06CB7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D74FF-2825-45D1-9D64-86177A4C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8956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Complete payment details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C2C93-5E3A-410D-B7CC-982D479E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95650"/>
            <a:ext cx="4238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Fill every field marked Required. Optional fields can remain blank.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4829DF-42CA-4FAC-8058-3FF83170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B8D44-BB8E-4441-AFBD-425CAC44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65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0A651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207EB1-3813-4AE3-A855-82B78D06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956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Attach documents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8745D-1293-4492-BF6F-B1FDBF1A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95650"/>
            <a:ext cx="4238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Each file may be up to 10 MB. Accepted formats depend on the form.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3802CB-3E74-4F81-AD76-675E3916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52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EC624-BF3C-472C-9E69-CF5A44B0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CB7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06CB7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2B7F67-CFB1-400C-B8EB-BBC86620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005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Review and submit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9F2AE-140D-4A70-BF74-5D17F48B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800600"/>
            <a:ext cx="4238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Check the amount, payee and bank details before submission.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90400C-4FB7-485B-858B-100D2925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65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0A651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50B8DB-197E-4622-9DCD-0AF0D54A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4005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Save the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E983B-0F4B-4F45-93B8-D27FF0A2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00600"/>
            <a:ext cx="4238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Download the PDF and use the reference number for follow-up.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393758-F27B-4E2A-84B3-42AD7A48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MCCIA Finance &amp; Accounts</a:t>
            </a:r>
          </a:p>
        </p:txBody>
      </p:sp>
    </p:spTree>
    <p:extLst>
      <p:ext uri="{BB962C8B-B14F-4D97-AF65-F5344CB8AC3E}">
        <p14:creationId xmlns:p14="http://schemas.microsoft.com/office/powerpoint/2010/main" val="891817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2072C9-D297-4D47-B478-3AEB74C0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Who does what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50786-116D-49DC-98ED-EB885464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72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58D42-50B1-4556-AEAE-6C41C402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E06BF-2380-450A-BD89-88004510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812A8-27BA-4462-AF8E-5163A9F5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Recommending Authority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79EB2-1E74-4FDC-8DB2-AC6E2267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A33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8A33D"/>
                </a:solidFill>
                <a:latin typeface="Avenir Next"/>
                <a:ea typeface="Avenir Next"/>
                <a:cs typeface="Avenir Next"/>
              </a:rPr>
              <a:t>Uses the Authority 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F2F02-6B6B-440C-90B5-FB6B9C00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solidFill>
              <a:srgbClr val="E8A33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B9347-E130-4DA5-881D-823BC9E8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Sees only submissions assigned to them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1D20D-CB49-45D1-AC38-F9FD1570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solidFill>
              <a:srgbClr val="E8A33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25BD0-239A-422C-8E6E-CF0FB1A6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9562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Opens the full request and attachments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DC5D2-A735-4F41-8825-BD7080AA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solidFill>
              <a:srgbClr val="E8A33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28F46-DB11-4CB9-97F7-4C211579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8617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Selects Recommend or Send 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B117E-9041-4095-A8B9-F409C352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91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solidFill>
              <a:srgbClr val="E8A33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87146-59D1-4F2C-B340-FBF8D430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7672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Can track requests submitted using their own email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2203A-6F9E-4E5B-B591-161A8029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Finance &amp; Accounts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ED3BA-3BA6-4DA9-A78C-4E0A9EAD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5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51"/>
                </a:solidFill>
                <a:latin typeface="Avenir Next"/>
                <a:ea typeface="Avenir Next"/>
                <a:cs typeface="Avenir Next"/>
              </a:rPr>
              <a:t>Uses the Finance Admin login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CBC6A-AF75-4C36-A383-623FC380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19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0">
            <a:solidFill>
              <a:srgbClr val="00A6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E99DB-619A-45A2-94A1-C27F75B5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0507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Works from stage-based queues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34078-4119-4BE2-8A92-224460CE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09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0">
            <a:solidFill>
              <a:srgbClr val="00A65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8B4660-35EF-46EA-8DD2-33259860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Reviews documents and records receipt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1DA487-6415-49C1-862F-5BE0E965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00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0">
            <a:solidFill>
              <a:srgbClr val="00A65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50822-6198-4D30-B4C7-B8B1037C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8617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Verifies details and records payments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D6CEDF-02D0-4468-9C3E-16CA2400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91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0">
            <a:solidFill>
              <a:srgbClr val="00A65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1F86EA-C7C3-4E67-AC84-6BD23F57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7672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Uses dashboard analytics and Excel export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C226B6-DF31-45AF-9A6A-474C8CDC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MCCIA Finance &amp; Accounts</a:t>
            </a:r>
          </a:p>
        </p:txBody>
      </p:sp>
    </p:spTree>
    <p:extLst>
      <p:ext uri="{BB962C8B-B14F-4D97-AF65-F5344CB8AC3E}">
        <p14:creationId xmlns:p14="http://schemas.microsoft.com/office/powerpoint/2010/main" val="15224445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D1093D-BEF2-4DF5-8D91-3A96866F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Live demo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0DC26-05A3-4DF4-AE65-D39A872E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72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6891B-C13A-4CED-A27B-C1A60F55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700DD-52BB-4BEC-A65F-1B60B864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6CB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694C5-E771-4082-BD4D-90E66519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FE86F-BD66-47D7-85AD-D513A212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097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Choose the request 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CE387-42CA-405E-99B1-3CB66F0F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0970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Open the public Payment Desk and select the correct 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DEBD5-29F5-41AC-9E5D-D7731ABD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E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4AB49-5164-43DF-AD6D-C4F13863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A33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C9119-C957-42A2-AA6D-92BD5F97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655C0-8F88-4E18-BD8C-7C61D117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Complete a Payment Advice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63534-3317-49A0-B698-F3FD62AE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3365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Show staff lookup, authority selection, amounts, bank details and documents.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2B62DB-804F-4E84-B539-71A9501D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E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B2070-28CD-41AE-B3DD-50FA738D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5B102-D03A-4DC1-9C29-A288986D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0F1FD-B3D2-4C62-8EF6-865905B1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576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Authority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B3AE4-C71B-45BC-A332-6D7BCA01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5760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Open the assigned queue, view the full record and recommend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38A8B4-6290-4B6E-AC5A-4AF2D84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EE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6C0227-4F28-4647-97E7-AC8ED57C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A65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EBDD7-24C9-4B17-BC96-72AAC15D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90B25-BC5D-4BA3-9C2F-8EF01917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81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Finance tracking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ACA2D-7B86-46A4-9548-508E9BA4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8155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Show stage colors, detail view, verification and payment status.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BA6301-DAE4-4188-B53E-A723717F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105156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4E2"/>
          </a:solidFill>
          <a:ln xmlns:a="http://schemas.openxmlformats.org/drawingml/2006/main" w="9525">
            <a:solidFill>
              <a:srgbClr val="F3D39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8E8F9F-A289-4EC0-8D4C-6B4ACF4A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A5A1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8A5A12"/>
                </a:solidFill>
                <a:latin typeface="Avenir Next"/>
                <a:ea typeface="Avenir Next"/>
                <a:cs typeface="Avenir Next"/>
              </a:rPr>
              <a:t>Demo tip: use one prepared example and narrate what each role sees next.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BC6079-1593-40F7-9494-2E62CCA7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MCCIA Finance &amp; Accounts</a:t>
            </a:r>
          </a:p>
        </p:txBody>
      </p:sp>
    </p:spTree>
    <p:extLst>
      <p:ext uri="{BB962C8B-B14F-4D97-AF65-F5344CB8AC3E}">
        <p14:creationId xmlns:p14="http://schemas.microsoft.com/office/powerpoint/2010/main" val="15625030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8F04AF-A0AF-4BBC-95B1-1516080F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Current limitations and good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102A7-B681-46FC-B555-890DF698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72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4C2A4-A4AE-45AF-A1FF-F15B1862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03CA9-5133-4999-8FE6-88E461F9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CB7"/>
          </a:solidFill>
          <a:ln xmlns:a="http://schemas.openxmlformats.org/drawingml/2006/main" w="0">
            <a:solidFill>
              <a:srgbClr val="006CB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B84F7-DBB2-4608-AFD9-B81420BA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478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Internet required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2F2BF-D0B3-48DB-8088-942D1A73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Forms, uploads and dashboards need a stable connection.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9C626-5C57-45FB-8675-7E131447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43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solidFill>
              <a:srgbClr val="E8A33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E44CD-7CC7-4905-9EC6-C3B5C6A1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478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10 MB per 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C2A50-A4D9-40C3-8E08-AF1C740A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288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Compress larger documents before uploading.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4B62C-35CD-4237-AF9B-59361B0D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6B287-C4FE-4A56-9CC7-CEFBF1F4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2417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Email matching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C5B75-9951-4F27-9400-95EBE4DC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0517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My Submissions uses the same email as the logged-in Authority account.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B3994-9CBA-4346-8347-912E3999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19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261E"/>
          </a:solidFill>
          <a:ln xmlns:a="http://schemas.openxmlformats.org/drawingml/2006/main" w="0">
            <a:solidFill>
              <a:srgbClr val="B3261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459A7-CD72-49D9-9653-59AD3E03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2417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14-day correction link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35FC5-D039-41B8-A192-52F84903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0517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After expiry, contact Finance for help.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A3C32-DBFE-43B2-8E7D-397D239B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0">
            <a:solidFill>
              <a:srgbClr val="00A65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093EEE-7076-4420-9F0E-29AB3625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Physical sanction signature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521B-EB10-4BCC-9363-3DB233DF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Sanctioned by remains blank on the PDF for wet-ink signing.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3722F4-E59F-4BA4-87DA-FD0AB99D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0F8B8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FF658-E122-4403-8F88-DF75B232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0055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Accurate input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CD01C-2595-4D63-81A0-39E0A7CC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815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Review payee, amount, GST and bank details before submitting.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F5FEC0-C0FB-416C-A5B8-BB340052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MCCIA Finance &amp; Accounts</a:t>
            </a:r>
          </a:p>
        </p:txBody>
      </p:sp>
    </p:spTree>
    <p:extLst>
      <p:ext uri="{BB962C8B-B14F-4D97-AF65-F5344CB8AC3E}">
        <p14:creationId xmlns:p14="http://schemas.microsoft.com/office/powerpoint/2010/main" val="20181135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0B342-4995-4173-9245-F94CB523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Future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C0ED7-BD27-4102-9CE3-4ABB1B8C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72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91120-C641-449B-9F19-78513775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FC21C-ABBC-46FA-8F2D-428A6958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Possible next improvements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DC902-177F-4C1C-BF61-61A55251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CB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6CB7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8C8E5-EAE3-4907-BEA7-AF51D10F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Reminder emails for ageing approvals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815B9-7859-49EE-9689-3AA681C7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A33D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E8A33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1A0F6-A265-4B7E-A957-80239AAF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3842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Searchable submitter history without a special role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7562D-8956-4850-89EB-840B9686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8B8D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F8B8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0E336-4ADD-408E-B2F0-D76744F6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0517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More management reports and trend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4F403-0181-47D6-ACCC-44E8BEDD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51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51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0C230-5838-433C-9A66-BD809FFE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7192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Deeper integration with accounting systems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EEADD-7834-4186-B3F6-D129B293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FA924-DCA9-45B8-9848-EA7FF707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288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8A33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8A33D"/>
                </a:solidFill>
                <a:latin typeface="Avenir Next"/>
                <a:ea typeface="Avenir Next"/>
                <a:cs typeface="Avenir Next"/>
              </a:rPr>
              <a:t>Tomorrow's goal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77D5C-F8DF-4C78-ACE0-0D99FC62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Everyone knows which form to use, what to prepare and how to track a request.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ADCA62-F94A-45E4-BBC0-49C65B13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CD0E5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BCD0E5"/>
                </a:solidFill>
                <a:latin typeface="Avenir Next"/>
                <a:ea typeface="Avenir Next"/>
                <a:cs typeface="Avenir Next"/>
              </a:rPr>
              <a:t>Questions &amp; feedback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DD26C-06DB-4028-91B6-AA34726F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6CB7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06CB7"/>
                </a:solidFill>
                <a:latin typeface="Avenir Next"/>
                <a:ea typeface="Avenir Next"/>
                <a:cs typeface="Avenir Next"/>
              </a:rPr>
              <a:t>payment-advice.vercel.app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25208-7093-41CE-BC89-72FE15BA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Thank you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82C0C7-2D5A-42F3-A9E0-39BFFC55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MCCIA Finance &amp; Accounts</a:t>
            </a:r>
          </a:p>
        </p:txBody>
      </p:sp>
    </p:spTree>
    <p:extLst>
      <p:ext uri="{BB962C8B-B14F-4D97-AF65-F5344CB8AC3E}">
        <p14:creationId xmlns:p14="http://schemas.microsoft.com/office/powerpoint/2010/main" val="396311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2026-09-04T17:09:14.0490000Z</dcterms:created>
  <dcterms:modified xsi:type="dcterms:W3CDTF">2026-09-04T17:09:14.0490000Z</dcterms:modified>
</coreProperties>
</file>